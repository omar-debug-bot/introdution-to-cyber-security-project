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Norwester" panose="020B0604020202020204" charset="0"/>
      <p:regular r:id="rId11"/>
    </p:embeddedFont>
    <p:embeddedFont>
      <p:font typeface="Calibri" panose="020F0502020204030204" pitchFamily="34" charset="0"/>
      <p:regular r:id="rId12"/>
      <p:bold r:id="rId13"/>
      <p:italic r:id="rId14"/>
      <p:boldItalic r:id="rId15"/>
    </p:embeddedFont>
    <p:embeddedFont>
      <p:font typeface="Poppins"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7" d="100"/>
          <a:sy n="57" d="100"/>
        </p:scale>
        <p:origin x="51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5838682" y="2062410"/>
            <a:ext cx="6610637" cy="6886080"/>
          </a:xfrm>
          <a:custGeom>
            <a:avLst/>
            <a:gdLst/>
            <a:ahLst/>
            <a:cxnLst/>
            <a:rect l="l" t="t" r="r" b="b"/>
            <a:pathLst>
              <a:path w="6610637" h="6886080">
                <a:moveTo>
                  <a:pt x="0" y="0"/>
                </a:moveTo>
                <a:lnTo>
                  <a:pt x="6610636" y="0"/>
                </a:lnTo>
                <a:lnTo>
                  <a:pt x="6610636" y="6886080"/>
                </a:lnTo>
                <a:lnTo>
                  <a:pt x="0" y="688608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AutoShape 4"/>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5" name="Freeform 5"/>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r:embed="rId5">
              <a:alphaModFix amt="70000"/>
              <a:extLst>
                <a:ext uri="{96DAC541-7B7A-43D3-8B79-37D633B846F1}">
                  <asvg:svgBlip xmlns:asvg="http://schemas.microsoft.com/office/drawing/2016/SVG/main" xmlns="" r:embed="rId6"/>
                </a:ext>
              </a:extLst>
            </a:blip>
            <a:stretch>
              <a:fillRect/>
            </a:stretch>
          </a:blipFill>
        </p:spPr>
      </p:sp>
      <p:sp>
        <p:nvSpPr>
          <p:cNvPr id="6" name="Freeform 6"/>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r:embed="rId5">
              <a:alphaModFix amt="70000"/>
              <a:extLst>
                <a:ext uri="{96DAC541-7B7A-43D3-8B79-37D633B846F1}">
                  <asvg:svgBlip xmlns:asvg="http://schemas.microsoft.com/office/drawing/2016/SVG/main" xmlns="" r:embed="rId6"/>
                </a:ext>
              </a:extLst>
            </a:blip>
            <a:stretch>
              <a:fillRect/>
            </a:stretch>
          </a:blipFill>
        </p:spPr>
      </p:sp>
      <p:sp>
        <p:nvSpPr>
          <p:cNvPr id="7" name="TextBox 7"/>
          <p:cNvSpPr txBox="1"/>
          <p:nvPr/>
        </p:nvSpPr>
        <p:spPr>
          <a:xfrm>
            <a:off x="2301144" y="2903287"/>
            <a:ext cx="13685712" cy="1932737"/>
          </a:xfrm>
          <a:prstGeom prst="rect">
            <a:avLst/>
          </a:prstGeom>
        </p:spPr>
        <p:txBody>
          <a:bodyPr lIns="0" tIns="0" rIns="0" bIns="0" rtlCol="0" anchor="t">
            <a:spAutoFit/>
          </a:bodyPr>
          <a:lstStyle/>
          <a:p>
            <a:pPr marL="0" lvl="0" indent="0" algn="ctr">
              <a:lnSpc>
                <a:spcPts val="13831"/>
              </a:lnSpc>
              <a:spcBef>
                <a:spcPct val="0"/>
              </a:spcBef>
            </a:pPr>
            <a:r>
              <a:rPr lang="en-US" sz="16083" spc="-707">
                <a:solidFill>
                  <a:srgbClr val="FFFFFF"/>
                </a:solidFill>
                <a:latin typeface="Norwester"/>
                <a:ea typeface="Norwester"/>
                <a:cs typeface="Norwester"/>
                <a:sym typeface="Norwester"/>
              </a:rPr>
              <a:t>WOKI</a:t>
            </a:r>
            <a:r>
              <a:rPr lang="en-US" sz="16083" u="none" strike="noStrike" spc="-707">
                <a:solidFill>
                  <a:srgbClr val="FFFFFF"/>
                </a:solidFill>
                <a:latin typeface="Norwester"/>
                <a:ea typeface="Norwester"/>
                <a:cs typeface="Norwester"/>
                <a:sym typeface="Norwester"/>
              </a:rPr>
              <a:t> TOKI</a:t>
            </a:r>
          </a:p>
        </p:txBody>
      </p:sp>
      <p:sp>
        <p:nvSpPr>
          <p:cNvPr id="8" name="TextBox 8"/>
          <p:cNvSpPr txBox="1"/>
          <p:nvPr/>
        </p:nvSpPr>
        <p:spPr>
          <a:xfrm>
            <a:off x="4459291" y="4910455"/>
            <a:ext cx="9369417" cy="1313815"/>
          </a:xfrm>
          <a:prstGeom prst="rect">
            <a:avLst/>
          </a:prstGeom>
        </p:spPr>
        <p:txBody>
          <a:bodyPr lIns="0" tIns="0" rIns="0" bIns="0" rtlCol="0" anchor="t">
            <a:spAutoFit/>
          </a:bodyPr>
          <a:lstStyle/>
          <a:p>
            <a:pPr algn="ctr">
              <a:lnSpc>
                <a:spcPts val="4729"/>
              </a:lnSpc>
            </a:pPr>
            <a:r>
              <a:rPr lang="en-US" sz="5499" spc="-241">
                <a:solidFill>
                  <a:srgbClr val="FFFFFF"/>
                </a:solidFill>
                <a:latin typeface="Poppins"/>
                <a:ea typeface="Poppins"/>
                <a:cs typeface="Poppins"/>
                <a:sym typeface="Poppins"/>
              </a:rPr>
              <a:t>Secure chat - End to End Encryption</a:t>
            </a:r>
          </a:p>
        </p:txBody>
      </p:sp>
      <p:sp>
        <p:nvSpPr>
          <p:cNvPr id="9" name="TextBox 9"/>
          <p:cNvSpPr txBox="1"/>
          <p:nvPr/>
        </p:nvSpPr>
        <p:spPr>
          <a:xfrm>
            <a:off x="6070907" y="391028"/>
            <a:ext cx="6146185" cy="1166557"/>
          </a:xfrm>
          <a:prstGeom prst="rect">
            <a:avLst/>
          </a:prstGeom>
        </p:spPr>
        <p:txBody>
          <a:bodyPr lIns="0" tIns="0" rIns="0" bIns="0" rtlCol="0" anchor="t">
            <a:spAutoFit/>
          </a:bodyPr>
          <a:lstStyle/>
          <a:p>
            <a:pPr algn="l">
              <a:lnSpc>
                <a:spcPts val="9125"/>
              </a:lnSpc>
            </a:pPr>
            <a:r>
              <a:rPr lang="en-US" sz="6518">
                <a:solidFill>
                  <a:srgbClr val="FFFFFF"/>
                </a:solidFill>
                <a:latin typeface="Poppins"/>
                <a:ea typeface="Poppins"/>
                <a:cs typeface="Poppins"/>
                <a:sym typeface="Poppins"/>
              </a:rPr>
              <a:t>Cyber Security</a:t>
            </a:r>
          </a:p>
        </p:txBody>
      </p:sp>
      <p:sp>
        <p:nvSpPr>
          <p:cNvPr id="10" name="TextBox 10"/>
          <p:cNvSpPr txBox="1"/>
          <p:nvPr/>
        </p:nvSpPr>
        <p:spPr>
          <a:xfrm>
            <a:off x="4995345" y="8484813"/>
            <a:ext cx="2399722" cy="251460"/>
          </a:xfrm>
          <a:prstGeom prst="rect">
            <a:avLst/>
          </a:prstGeom>
        </p:spPr>
        <p:txBody>
          <a:bodyPr lIns="0" tIns="0" rIns="0" bIns="0" rtlCol="0" anchor="t">
            <a:spAutoFit/>
          </a:bodyPr>
          <a:lstStyle/>
          <a:p>
            <a:pPr algn="ctr">
              <a:lnSpc>
                <a:spcPts val="1619"/>
              </a:lnSpc>
            </a:pPr>
            <a:r>
              <a:rPr lang="en-US" sz="1999" spc="-39">
                <a:solidFill>
                  <a:srgbClr val="FFFFFF"/>
                </a:solidFill>
                <a:latin typeface="Poppins"/>
                <a:ea typeface="Poppins"/>
                <a:cs typeface="Poppins"/>
                <a:sym typeface="Poppins"/>
              </a:rPr>
              <a:t>ID: 241004666</a:t>
            </a:r>
          </a:p>
        </p:txBody>
      </p:sp>
      <p:sp>
        <p:nvSpPr>
          <p:cNvPr id="11" name="TextBox 11"/>
          <p:cNvSpPr txBox="1"/>
          <p:nvPr/>
        </p:nvSpPr>
        <p:spPr>
          <a:xfrm>
            <a:off x="4896958" y="8064525"/>
            <a:ext cx="2596496" cy="251460"/>
          </a:xfrm>
          <a:prstGeom prst="rect">
            <a:avLst/>
          </a:prstGeom>
        </p:spPr>
        <p:txBody>
          <a:bodyPr lIns="0" tIns="0" rIns="0" bIns="0" rtlCol="0" anchor="t">
            <a:spAutoFit/>
          </a:bodyPr>
          <a:lstStyle/>
          <a:p>
            <a:pPr algn="ctr">
              <a:lnSpc>
                <a:spcPts val="1619"/>
              </a:lnSpc>
            </a:pPr>
            <a:r>
              <a:rPr lang="en-US" sz="1999" spc="-39">
                <a:solidFill>
                  <a:srgbClr val="FFFFFF"/>
                </a:solidFill>
                <a:latin typeface="Poppins"/>
                <a:ea typeface="Poppins"/>
                <a:cs typeface="Poppins"/>
                <a:sym typeface="Poppins"/>
              </a:rPr>
              <a:t>Name: Omar Akram</a:t>
            </a:r>
          </a:p>
        </p:txBody>
      </p:sp>
      <p:sp>
        <p:nvSpPr>
          <p:cNvPr id="12" name="TextBox 12"/>
          <p:cNvSpPr txBox="1"/>
          <p:nvPr/>
        </p:nvSpPr>
        <p:spPr>
          <a:xfrm>
            <a:off x="10861593" y="8064525"/>
            <a:ext cx="2697153" cy="251460"/>
          </a:xfrm>
          <a:prstGeom prst="rect">
            <a:avLst/>
          </a:prstGeom>
        </p:spPr>
        <p:txBody>
          <a:bodyPr lIns="0" tIns="0" rIns="0" bIns="0" rtlCol="0" anchor="t">
            <a:spAutoFit/>
          </a:bodyPr>
          <a:lstStyle/>
          <a:p>
            <a:pPr algn="ctr">
              <a:lnSpc>
                <a:spcPts val="1619"/>
              </a:lnSpc>
            </a:pPr>
            <a:r>
              <a:rPr lang="en-US" sz="1999" spc="-39">
                <a:solidFill>
                  <a:srgbClr val="FFFFFF"/>
                </a:solidFill>
                <a:latin typeface="Poppins"/>
                <a:ea typeface="Poppins"/>
                <a:cs typeface="Poppins"/>
                <a:sym typeface="Poppins"/>
              </a:rPr>
              <a:t>Name: Seif Yasser</a:t>
            </a:r>
          </a:p>
        </p:txBody>
      </p:sp>
      <p:sp>
        <p:nvSpPr>
          <p:cNvPr id="13" name="TextBox 13"/>
          <p:cNvSpPr txBox="1"/>
          <p:nvPr/>
        </p:nvSpPr>
        <p:spPr>
          <a:xfrm>
            <a:off x="7493455" y="7456450"/>
            <a:ext cx="3301091" cy="348233"/>
          </a:xfrm>
          <a:prstGeom prst="rect">
            <a:avLst/>
          </a:prstGeom>
        </p:spPr>
        <p:txBody>
          <a:bodyPr lIns="0" tIns="0" rIns="0" bIns="0" rtlCol="0" anchor="t">
            <a:spAutoFit/>
          </a:bodyPr>
          <a:lstStyle/>
          <a:p>
            <a:pPr algn="ctr">
              <a:lnSpc>
                <a:spcPts val="2267"/>
              </a:lnSpc>
            </a:pPr>
            <a:r>
              <a:rPr lang="en-US" sz="2799" spc="-55">
                <a:solidFill>
                  <a:srgbClr val="FFFFFF"/>
                </a:solidFill>
                <a:latin typeface="Poppins"/>
                <a:ea typeface="Poppins"/>
                <a:cs typeface="Poppins"/>
                <a:sym typeface="Poppins"/>
              </a:rPr>
              <a:t>Presented by:</a:t>
            </a:r>
          </a:p>
        </p:txBody>
      </p:sp>
      <p:sp>
        <p:nvSpPr>
          <p:cNvPr id="14" name="TextBox 14"/>
          <p:cNvSpPr txBox="1"/>
          <p:nvPr/>
        </p:nvSpPr>
        <p:spPr>
          <a:xfrm>
            <a:off x="11062906" y="8484813"/>
            <a:ext cx="2294527" cy="251460"/>
          </a:xfrm>
          <a:prstGeom prst="rect">
            <a:avLst/>
          </a:prstGeom>
        </p:spPr>
        <p:txBody>
          <a:bodyPr lIns="0" tIns="0" rIns="0" bIns="0" rtlCol="0" anchor="t">
            <a:spAutoFit/>
          </a:bodyPr>
          <a:lstStyle/>
          <a:p>
            <a:pPr algn="ctr">
              <a:lnSpc>
                <a:spcPts val="1619"/>
              </a:lnSpc>
            </a:pPr>
            <a:r>
              <a:rPr lang="en-US" sz="1999" spc="-39">
                <a:solidFill>
                  <a:srgbClr val="FFFFFF"/>
                </a:solidFill>
                <a:latin typeface="Poppins"/>
                <a:ea typeface="Poppins"/>
                <a:cs typeface="Poppins"/>
                <a:sym typeface="Poppins"/>
              </a:rPr>
              <a:t>ID: 241004681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5086350" y="2348138"/>
            <a:ext cx="8115300" cy="1203324"/>
          </a:xfrm>
          <a:prstGeom prst="rect">
            <a:avLst/>
          </a:prstGeom>
        </p:spPr>
        <p:txBody>
          <a:bodyPr lIns="0" tIns="0" rIns="0" bIns="0" rtlCol="0" anchor="t">
            <a:spAutoFit/>
          </a:bodyPr>
          <a:lstStyle/>
          <a:p>
            <a:pPr marL="0" lvl="0" indent="0" algn="ctr">
              <a:lnSpc>
                <a:spcPts val="8599"/>
              </a:lnSpc>
              <a:spcBef>
                <a:spcPct val="0"/>
              </a:spcBef>
            </a:pPr>
            <a:r>
              <a:rPr lang="en-US" sz="9999" spc="-439">
                <a:solidFill>
                  <a:srgbClr val="FFFFFF"/>
                </a:solidFill>
                <a:latin typeface="Norwester"/>
                <a:ea typeface="Norwester"/>
                <a:cs typeface="Norwester"/>
                <a:sym typeface="Norwester"/>
              </a:rPr>
              <a:t>INT</a:t>
            </a:r>
            <a:r>
              <a:rPr lang="en-US" sz="9999" u="none" strike="noStrike" spc="-439">
                <a:solidFill>
                  <a:srgbClr val="FFFFFF"/>
                </a:solidFill>
                <a:latin typeface="Norwester"/>
                <a:ea typeface="Norwester"/>
                <a:cs typeface="Norwester"/>
                <a:sym typeface="Norwester"/>
              </a:rPr>
              <a:t>RODUCTION</a:t>
            </a:r>
          </a:p>
        </p:txBody>
      </p:sp>
      <p:sp>
        <p:nvSpPr>
          <p:cNvPr id="4" name="TextBox 4"/>
          <p:cNvSpPr txBox="1"/>
          <p:nvPr/>
        </p:nvSpPr>
        <p:spPr>
          <a:xfrm>
            <a:off x="4456968" y="3808637"/>
            <a:ext cx="9374064" cy="5168154"/>
          </a:xfrm>
          <a:prstGeom prst="rect">
            <a:avLst/>
          </a:prstGeom>
        </p:spPr>
        <p:txBody>
          <a:bodyPr lIns="0" tIns="0" rIns="0" bIns="0" rtlCol="0" anchor="t">
            <a:spAutoFit/>
          </a:bodyPr>
          <a:lstStyle/>
          <a:p>
            <a:pPr algn="ctr">
              <a:lnSpc>
                <a:spcPts val="3735"/>
              </a:lnSpc>
            </a:pPr>
            <a:r>
              <a:rPr lang="en-US" sz="3087">
                <a:solidFill>
                  <a:srgbClr val="FFFFFF"/>
                </a:solidFill>
                <a:latin typeface="Poppins"/>
                <a:ea typeface="Poppins"/>
                <a:cs typeface="Poppins"/>
                <a:sym typeface="Poppins"/>
              </a:rPr>
              <a:t>Woki Toki is a real-time chat application that allows users to send and receive messages securely over the internet. It is built using Python, Flask, WebSockets, and JavaScript. The main goal of the application is to provide private and encrypted communication without depending on any external company or third-party service. All messages are protected using AES-256 encryption, which is one of the strongest encryption standards available today.</a:t>
            </a:r>
          </a:p>
        </p:txBody>
      </p:sp>
      <p:sp>
        <p:nvSpPr>
          <p:cNvPr id="5" name="AutoShape 5"/>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6" name="Freeform 6"/>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TextBox 7"/>
          <p:cNvSpPr txBox="1"/>
          <p:nvPr/>
        </p:nvSpPr>
        <p:spPr>
          <a:xfrm>
            <a:off x="1574843" y="1013927"/>
            <a:ext cx="2922953"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Woki Toki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4564356" y="3799134"/>
            <a:ext cx="9159288" cy="5168519"/>
          </a:xfrm>
          <a:prstGeom prst="rect">
            <a:avLst/>
          </a:prstGeom>
        </p:spPr>
        <p:txBody>
          <a:bodyPr lIns="0" tIns="0" rIns="0" bIns="0" rtlCol="0" anchor="t">
            <a:spAutoFit/>
          </a:bodyPr>
          <a:lstStyle/>
          <a:p>
            <a:pPr algn="ctr">
              <a:lnSpc>
                <a:spcPts val="3387"/>
              </a:lnSpc>
            </a:pPr>
            <a:r>
              <a:rPr lang="en-US" sz="2799">
                <a:solidFill>
                  <a:srgbClr val="FFFFFF"/>
                </a:solidFill>
                <a:latin typeface="Poppins"/>
                <a:ea typeface="Poppins"/>
                <a:cs typeface="Poppins"/>
                <a:sym typeface="Poppins"/>
              </a:rPr>
              <a:t>People today rely heavily on messaging applications for both personal and professional communication. Most of these applications are owned by large companies that store and manage all user data on their own servers. Users often have no visibility into how their messages are stored, who can access them, or how they are protected. Issues like data breaches, mass surveillance, and corporate data misuse have made digital privacy a growing concern worldwide. This has created a real need for simpler, more transparent, and user-controlled communication tools.</a:t>
            </a:r>
          </a:p>
        </p:txBody>
      </p:sp>
      <p:sp>
        <p:nvSpPr>
          <p:cNvPr id="4" name="Freeform 4"/>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r:embed="rId3">
              <a:alphaModFix amt="70000"/>
              <a:extLst>
                <a:ext uri="{96DAC541-7B7A-43D3-8B79-37D633B846F1}">
                  <asvg:svgBlip xmlns:asvg="http://schemas.microsoft.com/office/drawing/2016/SVG/main" xmlns="" r:embed="rId4"/>
                </a:ext>
              </a:extLst>
            </a:blip>
            <a:stretch>
              <a:fillRect/>
            </a:stretch>
          </a:blipFill>
        </p:spPr>
      </p:sp>
      <p:sp>
        <p:nvSpPr>
          <p:cNvPr id="5" name="TextBox 5"/>
          <p:cNvSpPr txBox="1"/>
          <p:nvPr/>
        </p:nvSpPr>
        <p:spPr>
          <a:xfrm>
            <a:off x="2355361" y="2329110"/>
            <a:ext cx="13577278" cy="1203324"/>
          </a:xfrm>
          <a:prstGeom prst="rect">
            <a:avLst/>
          </a:prstGeom>
        </p:spPr>
        <p:txBody>
          <a:bodyPr lIns="0" tIns="0" rIns="0" bIns="0" rtlCol="0" anchor="t">
            <a:spAutoFit/>
          </a:bodyPr>
          <a:lstStyle/>
          <a:p>
            <a:pPr marL="0" lvl="0" indent="0" algn="ctr">
              <a:lnSpc>
                <a:spcPts val="8599"/>
              </a:lnSpc>
              <a:spcBef>
                <a:spcPct val="0"/>
              </a:spcBef>
            </a:pPr>
            <a:r>
              <a:rPr lang="en-US" sz="9999" spc="-439">
                <a:solidFill>
                  <a:srgbClr val="FFFFFF"/>
                </a:solidFill>
                <a:latin typeface="Norwester"/>
                <a:ea typeface="Norwester"/>
                <a:cs typeface="Norwester"/>
                <a:sym typeface="Norwester"/>
              </a:rPr>
              <a:t>BACKGROUND AND C</a:t>
            </a:r>
            <a:r>
              <a:rPr lang="en-US" sz="9999" u="none" strike="noStrike" spc="-439">
                <a:solidFill>
                  <a:srgbClr val="FFFFFF"/>
                </a:solidFill>
                <a:latin typeface="Norwester"/>
                <a:ea typeface="Norwester"/>
                <a:cs typeface="Norwester"/>
                <a:sym typeface="Norwester"/>
              </a:rPr>
              <a:t>ONTEXT</a:t>
            </a:r>
          </a:p>
        </p:txBody>
      </p:sp>
      <p:sp>
        <p:nvSpPr>
          <p:cNvPr id="6" name="AutoShape 6"/>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7" name="Freeform 7"/>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TextBox 8"/>
          <p:cNvSpPr txBox="1"/>
          <p:nvPr/>
        </p:nvSpPr>
        <p:spPr>
          <a:xfrm>
            <a:off x="1574843" y="1013927"/>
            <a:ext cx="2922953"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woki toki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5178584" y="3799134"/>
            <a:ext cx="7930831" cy="4739894"/>
          </a:xfrm>
          <a:prstGeom prst="rect">
            <a:avLst/>
          </a:prstGeom>
        </p:spPr>
        <p:txBody>
          <a:bodyPr lIns="0" tIns="0" rIns="0" bIns="0" rtlCol="0" anchor="t">
            <a:spAutoFit/>
          </a:bodyPr>
          <a:lstStyle/>
          <a:p>
            <a:pPr algn="ctr">
              <a:lnSpc>
                <a:spcPts val="3388"/>
              </a:lnSpc>
            </a:pPr>
            <a:r>
              <a:rPr lang="en-US" sz="2800">
                <a:solidFill>
                  <a:srgbClr val="FFFFFF"/>
                </a:solidFill>
                <a:latin typeface="Poppins"/>
                <a:ea typeface="Poppins"/>
                <a:cs typeface="Poppins"/>
                <a:sym typeface="Poppins"/>
              </a:rPr>
              <a:t>The main problem is that most messaging platforms store user messages on servers they fully control, meaning users have no real ownership over their own conversations. If these servers are breached or if the company is forced to hand over data, user privacy is completely compromised. There is a clear need for a messaging system that is easy to use, fully encrypted, and can be hosted and controlled by the user themselves rather than a corporation.</a:t>
            </a:r>
          </a:p>
        </p:txBody>
      </p:sp>
      <p:sp>
        <p:nvSpPr>
          <p:cNvPr id="4" name="Freeform 4"/>
          <p:cNvSpPr/>
          <p:nvPr/>
        </p:nvSpPr>
        <p:spPr>
          <a:xfrm flipH="1">
            <a:off x="13395460" y="5505450"/>
            <a:ext cx="5838682" cy="5855316"/>
          </a:xfrm>
          <a:custGeom>
            <a:avLst/>
            <a:gdLst/>
            <a:ahLst/>
            <a:cxnLst/>
            <a:rect l="l" t="t" r="r" b="b"/>
            <a:pathLst>
              <a:path w="5838682" h="5855316">
                <a:moveTo>
                  <a:pt x="5838682" y="0"/>
                </a:moveTo>
                <a:lnTo>
                  <a:pt x="0" y="0"/>
                </a:lnTo>
                <a:lnTo>
                  <a:pt x="0" y="5855316"/>
                </a:lnTo>
                <a:lnTo>
                  <a:pt x="5838682" y="5855316"/>
                </a:lnTo>
                <a:lnTo>
                  <a:pt x="5838682" y="0"/>
                </a:lnTo>
                <a:close/>
              </a:path>
            </a:pathLst>
          </a:custGeom>
          <a:blipFill>
            <a:blip r:embed="rId3">
              <a:alphaModFix amt="70000"/>
              <a:extLst>
                <a:ext uri="{96DAC541-7B7A-43D3-8B79-37D633B846F1}">
                  <asvg:svgBlip xmlns:asvg="http://schemas.microsoft.com/office/drawing/2016/SVG/main" xmlns="" r:embed="rId4"/>
                </a:ext>
              </a:extLst>
            </a:blip>
            <a:stretch>
              <a:fillRect/>
            </a:stretch>
          </a:blipFill>
        </p:spPr>
      </p:sp>
      <p:sp>
        <p:nvSpPr>
          <p:cNvPr id="5" name="TextBox 5"/>
          <p:cNvSpPr txBox="1"/>
          <p:nvPr/>
        </p:nvSpPr>
        <p:spPr>
          <a:xfrm>
            <a:off x="3900088" y="2329110"/>
            <a:ext cx="10487824" cy="1203324"/>
          </a:xfrm>
          <a:prstGeom prst="rect">
            <a:avLst/>
          </a:prstGeom>
        </p:spPr>
        <p:txBody>
          <a:bodyPr lIns="0" tIns="0" rIns="0" bIns="0" rtlCol="0" anchor="t">
            <a:spAutoFit/>
          </a:bodyPr>
          <a:lstStyle/>
          <a:p>
            <a:pPr marL="0" lvl="0" indent="0" algn="ctr">
              <a:lnSpc>
                <a:spcPts val="8599"/>
              </a:lnSpc>
              <a:spcBef>
                <a:spcPct val="0"/>
              </a:spcBef>
            </a:pPr>
            <a:r>
              <a:rPr lang="en-US" sz="9999" spc="-439">
                <a:solidFill>
                  <a:srgbClr val="FFFFFF"/>
                </a:solidFill>
                <a:latin typeface="Norwester"/>
                <a:ea typeface="Norwester"/>
                <a:cs typeface="Norwester"/>
                <a:sym typeface="Norwester"/>
              </a:rPr>
              <a:t>PR</a:t>
            </a:r>
            <a:r>
              <a:rPr lang="en-US" sz="9999" u="none" strike="noStrike" spc="-439">
                <a:solidFill>
                  <a:srgbClr val="FFFFFF"/>
                </a:solidFill>
                <a:latin typeface="Norwester"/>
                <a:ea typeface="Norwester"/>
                <a:cs typeface="Norwester"/>
                <a:sym typeface="Norwester"/>
              </a:rPr>
              <a:t>OBLEM STATEMENT</a:t>
            </a:r>
          </a:p>
        </p:txBody>
      </p:sp>
      <p:sp>
        <p:nvSpPr>
          <p:cNvPr id="6" name="AutoShape 6"/>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7" name="Freeform 7"/>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TextBox 8"/>
          <p:cNvSpPr txBox="1"/>
          <p:nvPr/>
        </p:nvSpPr>
        <p:spPr>
          <a:xfrm>
            <a:off x="1574843" y="1013927"/>
            <a:ext cx="2922953"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woki toki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3743501" y="1852860"/>
            <a:ext cx="10800997" cy="1676400"/>
          </a:xfrm>
          <a:prstGeom prst="rect">
            <a:avLst/>
          </a:prstGeom>
        </p:spPr>
        <p:txBody>
          <a:bodyPr lIns="0" tIns="0" rIns="0" bIns="0" rtlCol="0" anchor="t">
            <a:spAutoFit/>
          </a:bodyPr>
          <a:lstStyle/>
          <a:p>
            <a:pPr marL="0" lvl="0" indent="0" algn="ctr">
              <a:lnSpc>
                <a:spcPts val="12600"/>
              </a:lnSpc>
            </a:pPr>
            <a:r>
              <a:rPr lang="en-US" sz="12000" spc="-527">
                <a:solidFill>
                  <a:srgbClr val="FFFFFF"/>
                </a:solidFill>
                <a:latin typeface="Norwester"/>
                <a:ea typeface="Norwester"/>
                <a:cs typeface="Norwester"/>
                <a:sym typeface="Norwester"/>
              </a:rPr>
              <a:t>M</a:t>
            </a:r>
            <a:r>
              <a:rPr lang="en-US" sz="12000" u="none" strike="noStrike" spc="-527">
                <a:solidFill>
                  <a:srgbClr val="FFFFFF"/>
                </a:solidFill>
                <a:latin typeface="Norwester"/>
                <a:ea typeface="Norwester"/>
                <a:cs typeface="Norwester"/>
                <a:sym typeface="Norwester"/>
              </a:rPr>
              <a:t>ETHODOLOGY</a:t>
            </a:r>
          </a:p>
        </p:txBody>
      </p:sp>
      <p:sp>
        <p:nvSpPr>
          <p:cNvPr id="4" name="TextBox 4"/>
          <p:cNvSpPr txBox="1"/>
          <p:nvPr/>
        </p:nvSpPr>
        <p:spPr>
          <a:xfrm>
            <a:off x="1436353" y="3424485"/>
            <a:ext cx="13696971" cy="7166687"/>
          </a:xfrm>
          <a:prstGeom prst="rect">
            <a:avLst/>
          </a:prstGeom>
        </p:spPr>
        <p:txBody>
          <a:bodyPr lIns="0" tIns="0" rIns="0" bIns="0" rtlCol="0" anchor="t">
            <a:spAutoFit/>
          </a:bodyPr>
          <a:lstStyle/>
          <a:p>
            <a:pPr algn="l">
              <a:lnSpc>
                <a:spcPts val="4083"/>
              </a:lnSpc>
            </a:pPr>
            <a:endParaRPr/>
          </a:p>
          <a:p>
            <a:pPr marL="561519" lvl="1" indent="-280759" algn="l">
              <a:lnSpc>
                <a:spcPts val="4083"/>
              </a:lnSpc>
              <a:buFont typeface="Arial"/>
              <a:buChar char="•"/>
            </a:pPr>
            <a:r>
              <a:rPr lang="en-US" sz="2600">
                <a:solidFill>
                  <a:srgbClr val="FFFFFF"/>
                </a:solidFill>
                <a:latin typeface="Poppins"/>
                <a:ea typeface="Poppins"/>
                <a:cs typeface="Poppins"/>
                <a:sym typeface="Poppins"/>
              </a:rPr>
              <a:t>Python and Flask were used to build the backend server and handle all API requests such as registration, login, and message history</a:t>
            </a:r>
          </a:p>
          <a:p>
            <a:pPr marL="561519" lvl="1" indent="-280759" algn="l">
              <a:lnSpc>
                <a:spcPts val="4083"/>
              </a:lnSpc>
              <a:buFont typeface="Arial"/>
              <a:buChar char="•"/>
            </a:pPr>
            <a:r>
              <a:rPr lang="en-US" sz="2600">
                <a:solidFill>
                  <a:srgbClr val="FFFFFF"/>
                </a:solidFill>
                <a:latin typeface="Poppins"/>
                <a:ea typeface="Poppins"/>
                <a:cs typeface="Poppins"/>
                <a:sym typeface="Poppins"/>
              </a:rPr>
              <a:t>Flask-SocketIO was used to enable real-time messaging between users through WebSocket connections</a:t>
            </a:r>
          </a:p>
          <a:p>
            <a:pPr marL="561519" lvl="1" indent="-280759" algn="l">
              <a:lnSpc>
                <a:spcPts val="4083"/>
              </a:lnSpc>
              <a:buFont typeface="Arial"/>
              <a:buChar char="•"/>
            </a:pPr>
            <a:r>
              <a:rPr lang="en-US" sz="2600">
                <a:solidFill>
                  <a:srgbClr val="FFFFFF"/>
                </a:solidFill>
                <a:latin typeface="Poppins"/>
                <a:ea typeface="Poppins"/>
                <a:cs typeface="Poppins"/>
                <a:sym typeface="Poppins"/>
              </a:rPr>
              <a:t>AES-256 encryption in CBC mode was applied to every message before it is stored on the server</a:t>
            </a:r>
          </a:p>
          <a:p>
            <a:pPr marL="561519" lvl="1" indent="-280759" algn="l">
              <a:lnSpc>
                <a:spcPts val="4083"/>
              </a:lnSpc>
              <a:buFont typeface="Arial"/>
              <a:buChar char="•"/>
            </a:pPr>
            <a:r>
              <a:rPr lang="en-US" sz="2600">
                <a:solidFill>
                  <a:srgbClr val="FFFFFF"/>
                </a:solidFill>
                <a:latin typeface="Poppins"/>
                <a:ea typeface="Poppins"/>
                <a:cs typeface="Poppins"/>
                <a:sym typeface="Poppins"/>
              </a:rPr>
              <a:t>Passwords are hashed using PBKDF2-SHA256 with a unique salt for each user to prevent common attacks</a:t>
            </a:r>
          </a:p>
          <a:p>
            <a:pPr marL="561519" lvl="1" indent="-280759" algn="l">
              <a:lnSpc>
                <a:spcPts val="4083"/>
              </a:lnSpc>
              <a:buFont typeface="Arial"/>
              <a:buChar char="•"/>
            </a:pPr>
            <a:r>
              <a:rPr lang="en-US" sz="2600">
                <a:solidFill>
                  <a:srgbClr val="FFFFFF"/>
                </a:solidFill>
                <a:latin typeface="Poppins"/>
                <a:ea typeface="Poppins"/>
                <a:cs typeface="Poppins"/>
                <a:sym typeface="Poppins"/>
              </a:rPr>
              <a:t>Session tokens are generated and encrypted using AES, adding an extra layer of protection to the login system</a:t>
            </a:r>
          </a:p>
          <a:p>
            <a:pPr marL="561519" lvl="1" indent="-280759" algn="l">
              <a:lnSpc>
                <a:spcPts val="4083"/>
              </a:lnSpc>
              <a:buFont typeface="Arial"/>
              <a:buChar char="•"/>
            </a:pPr>
            <a:r>
              <a:rPr lang="en-US" sz="2600">
                <a:solidFill>
                  <a:srgbClr val="FFFFFF"/>
                </a:solidFill>
                <a:latin typeface="Poppins"/>
                <a:ea typeface="Poppins"/>
                <a:cs typeface="Poppins"/>
                <a:sym typeface="Poppins"/>
              </a:rPr>
              <a:t>The frontend was built as a single-page application using only HTML, CSS, and JavaScript with no additional frameworks</a:t>
            </a:r>
          </a:p>
          <a:p>
            <a:pPr algn="l">
              <a:lnSpc>
                <a:spcPts val="4083"/>
              </a:lnSpc>
            </a:pPr>
            <a:endParaRPr lang="en-US" sz="2600">
              <a:solidFill>
                <a:srgbClr val="FFFFFF"/>
              </a:solidFill>
              <a:latin typeface="Poppins"/>
              <a:ea typeface="Poppins"/>
              <a:cs typeface="Poppins"/>
              <a:sym typeface="Poppins"/>
            </a:endParaRPr>
          </a:p>
        </p:txBody>
      </p:sp>
      <p:sp>
        <p:nvSpPr>
          <p:cNvPr id="5" name="Freeform 5"/>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r:embed="rId3">
              <a:alphaModFix amt="70000"/>
              <a:extLst>
                <a:ext uri="{96DAC541-7B7A-43D3-8B79-37D633B846F1}">
                  <asvg:svgBlip xmlns:asvg="http://schemas.microsoft.com/office/drawing/2016/SVG/main" xmlns="" r:embed="rId4"/>
                </a:ext>
              </a:extLst>
            </a:blip>
            <a:stretch>
              <a:fillRect/>
            </a:stretch>
          </a:blipFill>
        </p:spPr>
      </p:sp>
      <p:sp>
        <p:nvSpPr>
          <p:cNvPr id="6" name="Freeform 6"/>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r:embed="rId3">
              <a:alphaModFix amt="70000"/>
              <a:extLst>
                <a:ext uri="{96DAC541-7B7A-43D3-8B79-37D633B846F1}">
                  <asvg:svgBlip xmlns:asvg="http://schemas.microsoft.com/office/drawing/2016/SVG/main" xmlns="" r:embed="rId4"/>
                </a:ext>
              </a:extLst>
            </a:blip>
            <a:stretch>
              <a:fillRect/>
            </a:stretch>
          </a:blipFill>
        </p:spPr>
      </p:sp>
      <p:sp>
        <p:nvSpPr>
          <p:cNvPr id="7" name="AutoShape 7"/>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9" name="TextBox 9"/>
          <p:cNvSpPr txBox="1"/>
          <p:nvPr/>
        </p:nvSpPr>
        <p:spPr>
          <a:xfrm>
            <a:off x="1574843" y="1013927"/>
            <a:ext cx="2922953"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woki toki</a:t>
            </a:r>
          </a:p>
        </p:txBody>
      </p:sp>
      <p:sp>
        <p:nvSpPr>
          <p:cNvPr id="10" name="TextBox 10"/>
          <p:cNvSpPr txBox="1"/>
          <p:nvPr/>
        </p:nvSpPr>
        <p:spPr>
          <a:xfrm>
            <a:off x="1722137" y="3319475"/>
            <a:ext cx="13598605" cy="523876"/>
          </a:xfrm>
          <a:prstGeom prst="rect">
            <a:avLst/>
          </a:prstGeom>
        </p:spPr>
        <p:txBody>
          <a:bodyPr lIns="0" tIns="0" rIns="0" bIns="0" rtlCol="0" anchor="t">
            <a:spAutoFit/>
          </a:bodyPr>
          <a:lstStyle/>
          <a:p>
            <a:pPr algn="ctr">
              <a:lnSpc>
                <a:spcPts val="4199"/>
              </a:lnSpc>
              <a:spcBef>
                <a:spcPct val="0"/>
              </a:spcBef>
            </a:pPr>
            <a:r>
              <a:rPr lang="en-US" sz="2999" spc="-59">
                <a:solidFill>
                  <a:srgbClr val="FFFFFF"/>
                </a:solidFill>
                <a:latin typeface="Poppins"/>
                <a:ea typeface="Poppins"/>
                <a:cs typeface="Poppins"/>
                <a:sym typeface="Poppins"/>
              </a:rPr>
              <a:t>The application was developed using the following tools and technologies: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1232526" y="3128610"/>
            <a:ext cx="13760487" cy="939165"/>
          </a:xfrm>
          <a:prstGeom prst="rect">
            <a:avLst/>
          </a:prstGeom>
        </p:spPr>
        <p:txBody>
          <a:bodyPr lIns="0" tIns="0" rIns="0" bIns="0" rtlCol="0" anchor="t">
            <a:spAutoFit/>
          </a:bodyPr>
          <a:lstStyle/>
          <a:p>
            <a:pPr algn="l">
              <a:lnSpc>
                <a:spcPts val="3629"/>
              </a:lnSpc>
            </a:pPr>
            <a:r>
              <a:rPr lang="en-US" sz="3000">
                <a:solidFill>
                  <a:srgbClr val="FFFFFF"/>
                </a:solidFill>
                <a:latin typeface="Poppins"/>
                <a:ea typeface="Poppins"/>
                <a:cs typeface="Poppins"/>
                <a:sym typeface="Poppins"/>
              </a:rPr>
              <a:t>The final result is a working and tested encrypted chat application with the following features:</a:t>
            </a:r>
          </a:p>
        </p:txBody>
      </p:sp>
      <p:sp>
        <p:nvSpPr>
          <p:cNvPr id="4" name="TextBox 4"/>
          <p:cNvSpPr txBox="1"/>
          <p:nvPr/>
        </p:nvSpPr>
        <p:spPr>
          <a:xfrm>
            <a:off x="1028700" y="4128897"/>
            <a:ext cx="12992397" cy="6158103"/>
          </a:xfrm>
          <a:prstGeom prst="rect">
            <a:avLst/>
          </a:prstGeom>
        </p:spPr>
        <p:txBody>
          <a:bodyPr lIns="0" tIns="0" rIns="0" bIns="0" rtlCol="0" anchor="t">
            <a:spAutoFit/>
          </a:bodyPr>
          <a:lstStyle/>
          <a:p>
            <a:pPr marL="561341" lvl="1" indent="-280670" algn="l">
              <a:lnSpc>
                <a:spcPts val="4056"/>
              </a:lnSpc>
              <a:buFont typeface="Arial"/>
              <a:buChar char="•"/>
            </a:pPr>
            <a:r>
              <a:rPr lang="en-US" sz="2600">
                <a:solidFill>
                  <a:srgbClr val="FFFFFF"/>
                </a:solidFill>
                <a:latin typeface="Poppins"/>
                <a:ea typeface="Poppins"/>
                <a:cs typeface="Poppins"/>
                <a:sym typeface="Poppins"/>
              </a:rPr>
              <a:t>Users can register and log in with securely protected credentials</a:t>
            </a:r>
          </a:p>
          <a:p>
            <a:pPr marL="561341" lvl="1" indent="-280670" algn="l">
              <a:lnSpc>
                <a:spcPts val="4056"/>
              </a:lnSpc>
              <a:buFont typeface="Arial"/>
              <a:buChar char="•"/>
            </a:pPr>
            <a:r>
              <a:rPr lang="en-US" sz="2600">
                <a:solidFill>
                  <a:srgbClr val="FFFFFF"/>
                </a:solidFill>
                <a:latin typeface="Poppins"/>
                <a:ea typeface="Poppins"/>
                <a:cs typeface="Poppins"/>
                <a:sym typeface="Poppins"/>
              </a:rPr>
              <a:t>Users can open private chats with one person or create group rooms with multiple people</a:t>
            </a:r>
          </a:p>
          <a:p>
            <a:pPr marL="561341" lvl="1" indent="-280670" algn="l">
              <a:lnSpc>
                <a:spcPts val="4056"/>
              </a:lnSpc>
              <a:buFont typeface="Arial"/>
              <a:buChar char="•"/>
            </a:pPr>
            <a:r>
              <a:rPr lang="en-US" sz="2600">
                <a:solidFill>
                  <a:srgbClr val="FFFFFF"/>
                </a:solidFill>
                <a:latin typeface="Poppins"/>
                <a:ea typeface="Poppins"/>
                <a:cs typeface="Poppins"/>
                <a:sym typeface="Poppins"/>
              </a:rPr>
              <a:t>Every message is encrypted before being saved and can only be read by the people in the conversation</a:t>
            </a:r>
          </a:p>
          <a:p>
            <a:pPr marL="561341" lvl="1" indent="-280670" algn="l">
              <a:lnSpc>
                <a:spcPts val="4056"/>
              </a:lnSpc>
              <a:buFont typeface="Arial"/>
              <a:buChar char="•"/>
            </a:pPr>
            <a:r>
              <a:rPr lang="en-US" sz="2600">
                <a:solidFill>
                  <a:srgbClr val="FFFFFF"/>
                </a:solidFill>
                <a:latin typeface="Poppins"/>
                <a:ea typeface="Poppins"/>
                <a:cs typeface="Poppins"/>
                <a:sym typeface="Poppins"/>
              </a:rPr>
              <a:t>Online presence indicators show in real time which users are currently active</a:t>
            </a:r>
          </a:p>
          <a:p>
            <a:pPr marL="561341" lvl="1" indent="-280670" algn="l">
              <a:lnSpc>
                <a:spcPts val="4056"/>
              </a:lnSpc>
              <a:buFont typeface="Arial"/>
              <a:buChar char="•"/>
            </a:pPr>
            <a:r>
              <a:rPr lang="en-US" sz="2600">
                <a:solidFill>
                  <a:srgbClr val="FFFFFF"/>
                </a:solidFill>
                <a:latin typeface="Poppins"/>
                <a:ea typeface="Poppins"/>
                <a:cs typeface="Poppins"/>
                <a:sym typeface="Poppins"/>
              </a:rPr>
              <a:t>Full message history is saved per room and loads automatically when a chat is opened</a:t>
            </a:r>
          </a:p>
          <a:p>
            <a:pPr marL="561341" lvl="1" indent="-280670" algn="l">
              <a:lnSpc>
                <a:spcPts val="4056"/>
              </a:lnSpc>
              <a:buFont typeface="Arial"/>
              <a:buChar char="•"/>
            </a:pPr>
            <a:r>
              <a:rPr lang="en-US" sz="2600">
                <a:solidFill>
                  <a:srgbClr val="FFFFFF"/>
                </a:solidFill>
                <a:latin typeface="Poppins"/>
                <a:ea typeface="Poppins"/>
                <a:cs typeface="Poppins"/>
                <a:sym typeface="Poppins"/>
              </a:rPr>
              <a:t>The application runs completely in the browser and requires no installation on the user side</a:t>
            </a:r>
          </a:p>
          <a:p>
            <a:pPr algn="l">
              <a:lnSpc>
                <a:spcPts val="4056"/>
              </a:lnSpc>
            </a:pPr>
            <a:endParaRPr lang="en-US" sz="2600">
              <a:solidFill>
                <a:srgbClr val="FFFFFF"/>
              </a:solidFill>
              <a:latin typeface="Poppins"/>
              <a:ea typeface="Poppins"/>
              <a:cs typeface="Poppins"/>
              <a:sym typeface="Poppins"/>
            </a:endParaRPr>
          </a:p>
        </p:txBody>
      </p:sp>
      <p:sp>
        <p:nvSpPr>
          <p:cNvPr id="5" name="Freeform 5"/>
          <p:cNvSpPr/>
          <p:nvPr/>
        </p:nvSpPr>
        <p:spPr>
          <a:xfrm>
            <a:off x="-1340885" y="5505450"/>
            <a:ext cx="5838682" cy="5855316"/>
          </a:xfrm>
          <a:custGeom>
            <a:avLst/>
            <a:gdLst/>
            <a:ahLst/>
            <a:cxnLst/>
            <a:rect l="l" t="t" r="r" b="b"/>
            <a:pathLst>
              <a:path w="5838682" h="5855316">
                <a:moveTo>
                  <a:pt x="0" y="0"/>
                </a:moveTo>
                <a:lnTo>
                  <a:pt x="5838681" y="0"/>
                </a:lnTo>
                <a:lnTo>
                  <a:pt x="5838681" y="5855316"/>
                </a:lnTo>
                <a:lnTo>
                  <a:pt x="0" y="5855316"/>
                </a:lnTo>
                <a:lnTo>
                  <a:pt x="0" y="0"/>
                </a:lnTo>
                <a:close/>
              </a:path>
            </a:pathLst>
          </a:custGeom>
          <a:blipFill>
            <a:blip r:embed="rId3">
              <a:alphaModFix amt="70000"/>
              <a:extLst>
                <a:ext uri="{96DAC541-7B7A-43D3-8B79-37D633B846F1}">
                  <asvg:svgBlip xmlns:asvg="http://schemas.microsoft.com/office/drawing/2016/SVG/main" xmlns="" r:embed="rId4"/>
                </a:ext>
              </a:extLst>
            </a:blip>
            <a:stretch>
              <a:fillRect/>
            </a:stretch>
          </a:blipFill>
        </p:spPr>
      </p:sp>
      <p:sp>
        <p:nvSpPr>
          <p:cNvPr id="6" name="AutoShape 6"/>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7" name="Freeform 7"/>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TextBox 8"/>
          <p:cNvSpPr txBox="1"/>
          <p:nvPr/>
        </p:nvSpPr>
        <p:spPr>
          <a:xfrm>
            <a:off x="4266903" y="1896842"/>
            <a:ext cx="9754194" cy="1247771"/>
          </a:xfrm>
          <a:prstGeom prst="rect">
            <a:avLst/>
          </a:prstGeom>
        </p:spPr>
        <p:txBody>
          <a:bodyPr lIns="0" tIns="0" rIns="0" bIns="0" rtlCol="0" anchor="t">
            <a:spAutoFit/>
          </a:bodyPr>
          <a:lstStyle/>
          <a:p>
            <a:pPr marL="0" lvl="0" indent="0" algn="ctr">
              <a:lnSpc>
                <a:spcPts val="9449"/>
              </a:lnSpc>
            </a:pPr>
            <a:r>
              <a:rPr lang="en-US" sz="8999" spc="-395">
                <a:solidFill>
                  <a:srgbClr val="FFFFFF"/>
                </a:solidFill>
                <a:latin typeface="Norwester"/>
                <a:ea typeface="Norwester"/>
                <a:cs typeface="Norwester"/>
                <a:sym typeface="Norwester"/>
              </a:rPr>
              <a:t>RESULTS</a:t>
            </a:r>
            <a:r>
              <a:rPr lang="en-US" sz="8999" u="none" strike="noStrike" spc="-395">
                <a:solidFill>
                  <a:srgbClr val="FFFFFF"/>
                </a:solidFill>
                <a:latin typeface="Norwester"/>
                <a:ea typeface="Norwester"/>
                <a:cs typeface="Norwester"/>
                <a:sym typeface="Norwester"/>
              </a:rPr>
              <a:t> AND FINDINGS</a:t>
            </a:r>
          </a:p>
        </p:txBody>
      </p:sp>
      <p:sp>
        <p:nvSpPr>
          <p:cNvPr id="9" name="TextBox 9"/>
          <p:cNvSpPr txBox="1"/>
          <p:nvPr/>
        </p:nvSpPr>
        <p:spPr>
          <a:xfrm>
            <a:off x="1574843" y="1013927"/>
            <a:ext cx="2922953"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woki toki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AutoShape 3"/>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TextBox 5"/>
          <p:cNvSpPr txBox="1"/>
          <p:nvPr/>
        </p:nvSpPr>
        <p:spPr>
          <a:xfrm>
            <a:off x="3139467" y="3416413"/>
            <a:ext cx="12009066" cy="5597144"/>
          </a:xfrm>
          <a:prstGeom prst="rect">
            <a:avLst/>
          </a:prstGeom>
        </p:spPr>
        <p:txBody>
          <a:bodyPr lIns="0" tIns="0" rIns="0" bIns="0" rtlCol="0" anchor="t">
            <a:spAutoFit/>
          </a:bodyPr>
          <a:lstStyle/>
          <a:p>
            <a:pPr algn="ctr">
              <a:lnSpc>
                <a:spcPts val="3387"/>
              </a:lnSpc>
            </a:pPr>
            <a:r>
              <a:rPr lang="en-US" sz="2799">
                <a:solidFill>
                  <a:srgbClr val="FFFFFF"/>
                </a:solidFill>
                <a:latin typeface="Poppins"/>
                <a:ea typeface="Poppins"/>
                <a:cs typeface="Poppins"/>
                <a:sym typeface="Poppins"/>
              </a:rPr>
              <a:t>The project proves that strong encryption can be built into a simple and usable web application. AES-256 is the same standard trusted by governments, banks, and security organizations around the world, showing that professional-grade security is achievable even in a student project.</a:t>
            </a:r>
          </a:p>
          <a:p>
            <a:pPr algn="ctr">
              <a:lnSpc>
                <a:spcPts val="3387"/>
              </a:lnSpc>
            </a:pPr>
            <a:r>
              <a:rPr lang="en-US" sz="2799">
                <a:solidFill>
                  <a:srgbClr val="FFFFFF"/>
                </a:solidFill>
                <a:latin typeface="Poppins"/>
                <a:ea typeface="Poppins"/>
                <a:cs typeface="Poppins"/>
                <a:sym typeface="Poppins"/>
              </a:rPr>
              <a:t>Two limitations were identified. The first is that the encryption key is currently shared and stored in the code, which means someone with server access could decrypt messages. This can be solved in future versions by giving each user their own private encryption key. The second limitation is that data is stored in memory and is lost if the server restarts, which can be fixed by connecting the application to a proper database.</a:t>
            </a:r>
          </a:p>
          <a:p>
            <a:pPr algn="ctr">
              <a:lnSpc>
                <a:spcPts val="3387"/>
              </a:lnSpc>
            </a:pPr>
            <a:endParaRPr lang="en-US" sz="2799">
              <a:solidFill>
                <a:srgbClr val="FFFFFF"/>
              </a:solidFill>
              <a:latin typeface="Poppins"/>
              <a:ea typeface="Poppins"/>
              <a:cs typeface="Poppins"/>
              <a:sym typeface="Poppins"/>
            </a:endParaRPr>
          </a:p>
        </p:txBody>
      </p:sp>
      <p:sp>
        <p:nvSpPr>
          <p:cNvPr id="6" name="Freeform 6"/>
          <p:cNvSpPr/>
          <p:nvPr/>
        </p:nvSpPr>
        <p:spPr>
          <a:xfrm flipH="1">
            <a:off x="13558746" y="5505450"/>
            <a:ext cx="5838682" cy="5855316"/>
          </a:xfrm>
          <a:custGeom>
            <a:avLst/>
            <a:gdLst/>
            <a:ahLst/>
            <a:cxnLst/>
            <a:rect l="l" t="t" r="r" b="b"/>
            <a:pathLst>
              <a:path w="5838682" h="5855316">
                <a:moveTo>
                  <a:pt x="5838681" y="0"/>
                </a:moveTo>
                <a:lnTo>
                  <a:pt x="0" y="0"/>
                </a:lnTo>
                <a:lnTo>
                  <a:pt x="0" y="5855316"/>
                </a:lnTo>
                <a:lnTo>
                  <a:pt x="5838681" y="5855316"/>
                </a:lnTo>
                <a:lnTo>
                  <a:pt x="5838681" y="0"/>
                </a:lnTo>
                <a:close/>
              </a:path>
            </a:pathLst>
          </a:custGeom>
          <a:blipFill>
            <a:blip r:embed="rId5">
              <a:alphaModFix amt="70000"/>
              <a:extLst>
                <a:ext uri="{96DAC541-7B7A-43D3-8B79-37D633B846F1}">
                  <asvg:svgBlip xmlns:asvg="http://schemas.microsoft.com/office/drawing/2016/SVG/main" xmlns="" r:embed="rId6"/>
                </a:ext>
              </a:extLst>
            </a:blip>
            <a:stretch>
              <a:fillRect/>
            </a:stretch>
          </a:blipFill>
        </p:spPr>
      </p:sp>
      <p:sp>
        <p:nvSpPr>
          <p:cNvPr id="7" name="TextBox 7"/>
          <p:cNvSpPr txBox="1"/>
          <p:nvPr/>
        </p:nvSpPr>
        <p:spPr>
          <a:xfrm>
            <a:off x="1574843" y="1013927"/>
            <a:ext cx="2922953"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woki toki</a:t>
            </a:r>
          </a:p>
        </p:txBody>
      </p:sp>
      <p:sp>
        <p:nvSpPr>
          <p:cNvPr id="8" name="TextBox 8"/>
          <p:cNvSpPr txBox="1"/>
          <p:nvPr/>
        </p:nvSpPr>
        <p:spPr>
          <a:xfrm>
            <a:off x="5712279" y="1930514"/>
            <a:ext cx="6863443" cy="1409700"/>
          </a:xfrm>
          <a:prstGeom prst="rect">
            <a:avLst/>
          </a:prstGeom>
        </p:spPr>
        <p:txBody>
          <a:bodyPr lIns="0" tIns="0" rIns="0" bIns="0" rtlCol="0" anchor="t">
            <a:spAutoFit/>
          </a:bodyPr>
          <a:lstStyle/>
          <a:p>
            <a:pPr marL="0" lvl="0" indent="0" algn="ctr">
              <a:lnSpc>
                <a:spcPts val="10799"/>
              </a:lnSpc>
            </a:pPr>
            <a:r>
              <a:rPr lang="en-US" sz="9999" spc="-439">
                <a:solidFill>
                  <a:srgbClr val="FFFFFF"/>
                </a:solidFill>
                <a:latin typeface="Norwester"/>
                <a:ea typeface="Norwester"/>
                <a:cs typeface="Norwester"/>
                <a:sym typeface="Norwester"/>
              </a:rPr>
              <a:t>DIS</a:t>
            </a:r>
            <a:r>
              <a:rPr lang="en-US" sz="9999" u="none" strike="noStrike" spc="-439">
                <a:solidFill>
                  <a:srgbClr val="FFFFFF"/>
                </a:solidFill>
                <a:latin typeface="Norwester"/>
                <a:ea typeface="Norwester"/>
                <a:cs typeface="Norwester"/>
                <a:sym typeface="Norwester"/>
              </a:rPr>
              <a:t>CUSSION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3743501" y="1932495"/>
            <a:ext cx="10800997" cy="1381125"/>
          </a:xfrm>
          <a:prstGeom prst="rect">
            <a:avLst/>
          </a:prstGeom>
        </p:spPr>
        <p:txBody>
          <a:bodyPr lIns="0" tIns="0" rIns="0" bIns="0" rtlCol="0" anchor="t">
            <a:spAutoFit/>
          </a:bodyPr>
          <a:lstStyle/>
          <a:p>
            <a:pPr marL="0" lvl="0" indent="0" algn="ctr">
              <a:lnSpc>
                <a:spcPts val="10499"/>
              </a:lnSpc>
            </a:pPr>
            <a:r>
              <a:rPr lang="en-US" sz="9999" spc="-439">
                <a:solidFill>
                  <a:srgbClr val="FFFFFF"/>
                </a:solidFill>
                <a:latin typeface="Norwester"/>
                <a:ea typeface="Norwester"/>
                <a:cs typeface="Norwester"/>
                <a:sym typeface="Norwester"/>
              </a:rPr>
              <a:t>CON</a:t>
            </a:r>
            <a:r>
              <a:rPr lang="en-US" sz="9999" u="none" strike="noStrike" spc="-439">
                <a:solidFill>
                  <a:srgbClr val="FFFFFF"/>
                </a:solidFill>
                <a:latin typeface="Norwester"/>
                <a:ea typeface="Norwester"/>
                <a:cs typeface="Norwester"/>
                <a:sym typeface="Norwester"/>
              </a:rPr>
              <a:t>CLUSION</a:t>
            </a:r>
          </a:p>
        </p:txBody>
      </p:sp>
      <p:sp>
        <p:nvSpPr>
          <p:cNvPr id="4" name="TextBox 4"/>
          <p:cNvSpPr txBox="1"/>
          <p:nvPr/>
        </p:nvSpPr>
        <p:spPr>
          <a:xfrm>
            <a:off x="3981450" y="3701962"/>
            <a:ext cx="10325100" cy="3882644"/>
          </a:xfrm>
          <a:prstGeom prst="rect">
            <a:avLst/>
          </a:prstGeom>
        </p:spPr>
        <p:txBody>
          <a:bodyPr lIns="0" tIns="0" rIns="0" bIns="0" rtlCol="0" anchor="t">
            <a:spAutoFit/>
          </a:bodyPr>
          <a:lstStyle/>
          <a:p>
            <a:pPr algn="ctr">
              <a:lnSpc>
                <a:spcPts val="3388"/>
              </a:lnSpc>
            </a:pPr>
            <a:r>
              <a:rPr lang="en-US" sz="2800">
                <a:solidFill>
                  <a:srgbClr val="FFFFFF"/>
                </a:solidFill>
                <a:latin typeface="Poppins"/>
                <a:ea typeface="Poppins"/>
                <a:cs typeface="Poppins"/>
                <a:sym typeface="Poppins"/>
              </a:rPr>
              <a:t>Woki Toki is a fully working encrypted chat application that addresses a real and growing concern around digital privacy. It shows that it is possible to build a secure communication tool using open-source technologies and standard encryption practices. Future plans for the project include adding per-user asymmetric encryption for true end-to-end security, connecting a persistent database, adding support for file sharing, and making the application easier to deploy for non-technical users.</a:t>
            </a:r>
          </a:p>
        </p:txBody>
      </p:sp>
      <p:sp>
        <p:nvSpPr>
          <p:cNvPr id="5" name="Freeform 5"/>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r:embed="rId3">
              <a:alphaModFix amt="70000"/>
              <a:extLst>
                <a:ext uri="{96DAC541-7B7A-43D3-8B79-37D633B846F1}">
                  <asvg:svgBlip xmlns:asvg="http://schemas.microsoft.com/office/drawing/2016/SVG/main" xmlns="" r:embed="rId4"/>
                </a:ext>
              </a:extLst>
            </a:blip>
            <a:stretch>
              <a:fillRect/>
            </a:stretch>
          </a:blipFill>
        </p:spPr>
      </p:sp>
      <p:sp>
        <p:nvSpPr>
          <p:cNvPr id="6" name="Freeform 6"/>
          <p:cNvSpPr/>
          <p:nvPr/>
        </p:nvSpPr>
        <p:spPr>
          <a:xfrm>
            <a:off x="-1971632" y="3730537"/>
            <a:ext cx="7092950" cy="7113157"/>
          </a:xfrm>
          <a:custGeom>
            <a:avLst/>
            <a:gdLst/>
            <a:ahLst/>
            <a:cxnLst/>
            <a:rect l="l" t="t" r="r" b="b"/>
            <a:pathLst>
              <a:path w="7092950" h="7113157">
                <a:moveTo>
                  <a:pt x="0" y="0"/>
                </a:moveTo>
                <a:lnTo>
                  <a:pt x="7092950" y="0"/>
                </a:lnTo>
                <a:lnTo>
                  <a:pt x="7092950" y="7113158"/>
                </a:lnTo>
                <a:lnTo>
                  <a:pt x="0" y="7113158"/>
                </a:lnTo>
                <a:lnTo>
                  <a:pt x="0" y="0"/>
                </a:lnTo>
                <a:close/>
              </a:path>
            </a:pathLst>
          </a:custGeom>
          <a:blipFill>
            <a:blip r:embed="rId3">
              <a:alphaModFix amt="70000"/>
              <a:extLst>
                <a:ext uri="{96DAC541-7B7A-43D3-8B79-37D633B846F1}">
                  <asvg:svgBlip xmlns:asvg="http://schemas.microsoft.com/office/drawing/2016/SVG/main" xmlns="" r:embed="rId4"/>
                </a:ext>
              </a:extLst>
            </a:blip>
            <a:stretch>
              <a:fillRect/>
            </a:stretch>
          </a:blipFill>
        </p:spPr>
      </p:sp>
      <p:sp>
        <p:nvSpPr>
          <p:cNvPr id="7" name="AutoShape 7"/>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8" name="Freeform 8"/>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9" name="TextBox 9"/>
          <p:cNvSpPr txBox="1"/>
          <p:nvPr/>
        </p:nvSpPr>
        <p:spPr>
          <a:xfrm>
            <a:off x="1574843" y="1013927"/>
            <a:ext cx="2922953"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woki toki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AutoShape 3"/>
          <p:cNvSpPr/>
          <p:nvPr/>
        </p:nvSpPr>
        <p:spPr>
          <a:xfrm>
            <a:off x="1028700" y="1700460"/>
            <a:ext cx="16230600" cy="0"/>
          </a:xfrm>
          <a:prstGeom prst="line">
            <a:avLst/>
          </a:prstGeom>
          <a:ln w="38100" cap="flat">
            <a:solidFill>
              <a:srgbClr val="FFFFFF"/>
            </a:solidFill>
            <a:prstDash val="solid"/>
            <a:headEnd type="none" w="sm" len="sm"/>
            <a:tailEnd type="none" w="sm" len="sm"/>
          </a:ln>
        </p:spPr>
      </p:sp>
      <p:sp>
        <p:nvSpPr>
          <p:cNvPr id="4" name="Freeform 4"/>
          <p:cNvSpPr/>
          <p:nvPr/>
        </p:nvSpPr>
        <p:spPr>
          <a:xfrm>
            <a:off x="1028700" y="1028700"/>
            <a:ext cx="407653" cy="405429"/>
          </a:xfrm>
          <a:custGeom>
            <a:avLst/>
            <a:gdLst/>
            <a:ahLst/>
            <a:cxnLst/>
            <a:rect l="l" t="t" r="r" b="b"/>
            <a:pathLst>
              <a:path w="407653" h="405429">
                <a:moveTo>
                  <a:pt x="0" y="0"/>
                </a:moveTo>
                <a:lnTo>
                  <a:pt x="407653" y="0"/>
                </a:lnTo>
                <a:lnTo>
                  <a:pt x="407653" y="405429"/>
                </a:lnTo>
                <a:lnTo>
                  <a:pt x="0" y="40542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flipH="1">
            <a:off x="13256978" y="3730537"/>
            <a:ext cx="7092950" cy="7113157"/>
          </a:xfrm>
          <a:custGeom>
            <a:avLst/>
            <a:gdLst/>
            <a:ahLst/>
            <a:cxnLst/>
            <a:rect l="l" t="t" r="r" b="b"/>
            <a:pathLst>
              <a:path w="7092950" h="7113157">
                <a:moveTo>
                  <a:pt x="7092949" y="0"/>
                </a:moveTo>
                <a:lnTo>
                  <a:pt x="0" y="0"/>
                </a:lnTo>
                <a:lnTo>
                  <a:pt x="0" y="7113158"/>
                </a:lnTo>
                <a:lnTo>
                  <a:pt x="7092949" y="7113158"/>
                </a:lnTo>
                <a:lnTo>
                  <a:pt x="7092949" y="0"/>
                </a:lnTo>
                <a:close/>
              </a:path>
            </a:pathLst>
          </a:custGeom>
          <a:blipFill>
            <a:blip r:embed="rId5">
              <a:alphaModFix amt="70000"/>
              <a:extLst>
                <a:ext uri="{96DAC541-7B7A-43D3-8B79-37D633B846F1}">
                  <asvg:svgBlip xmlns:asvg="http://schemas.microsoft.com/office/drawing/2016/SVG/main" xmlns="" r:embed="rId6"/>
                </a:ext>
              </a:extLst>
            </a:blip>
            <a:stretch>
              <a:fillRect/>
            </a:stretch>
          </a:blipFill>
        </p:spPr>
      </p:sp>
      <p:sp>
        <p:nvSpPr>
          <p:cNvPr id="6" name="TextBox 6"/>
          <p:cNvSpPr txBox="1"/>
          <p:nvPr/>
        </p:nvSpPr>
        <p:spPr>
          <a:xfrm>
            <a:off x="492205" y="4796251"/>
            <a:ext cx="17303590" cy="1565275"/>
          </a:xfrm>
          <a:prstGeom prst="rect">
            <a:avLst/>
          </a:prstGeom>
        </p:spPr>
        <p:txBody>
          <a:bodyPr lIns="0" tIns="0" rIns="0" bIns="0" rtlCol="0" anchor="t">
            <a:spAutoFit/>
          </a:bodyPr>
          <a:lstStyle/>
          <a:p>
            <a:pPr algn="ctr">
              <a:lnSpc>
                <a:spcPts val="6049"/>
              </a:lnSpc>
            </a:pPr>
            <a:r>
              <a:rPr lang="en-US" sz="4999">
                <a:solidFill>
                  <a:srgbClr val="FFFFFF"/>
                </a:solidFill>
                <a:latin typeface="Poppins"/>
                <a:ea typeface="Poppins"/>
                <a:cs typeface="Poppins"/>
                <a:sym typeface="Poppins"/>
              </a:rPr>
              <a:t>Thank you for your attention,</a:t>
            </a:r>
          </a:p>
          <a:p>
            <a:pPr algn="ctr">
              <a:lnSpc>
                <a:spcPts val="6049"/>
              </a:lnSpc>
            </a:pPr>
            <a:r>
              <a:rPr lang="en-US" sz="4999">
                <a:solidFill>
                  <a:srgbClr val="FFFFFF"/>
                </a:solidFill>
                <a:latin typeface="Poppins"/>
                <a:ea typeface="Poppins"/>
                <a:cs typeface="Poppins"/>
                <a:sym typeface="Poppins"/>
              </a:rPr>
              <a:t> Any questions?</a:t>
            </a:r>
          </a:p>
        </p:txBody>
      </p:sp>
      <p:sp>
        <p:nvSpPr>
          <p:cNvPr id="7" name="Freeform 7"/>
          <p:cNvSpPr/>
          <p:nvPr/>
        </p:nvSpPr>
        <p:spPr>
          <a:xfrm>
            <a:off x="-1340885" y="7167182"/>
            <a:ext cx="4181671" cy="4193584"/>
          </a:xfrm>
          <a:custGeom>
            <a:avLst/>
            <a:gdLst/>
            <a:ahLst/>
            <a:cxnLst/>
            <a:rect l="l" t="t" r="r" b="b"/>
            <a:pathLst>
              <a:path w="4181671" h="4193584">
                <a:moveTo>
                  <a:pt x="0" y="0"/>
                </a:moveTo>
                <a:lnTo>
                  <a:pt x="4181670" y="0"/>
                </a:lnTo>
                <a:lnTo>
                  <a:pt x="4181670" y="4193584"/>
                </a:lnTo>
                <a:lnTo>
                  <a:pt x="0" y="4193584"/>
                </a:lnTo>
                <a:lnTo>
                  <a:pt x="0" y="0"/>
                </a:lnTo>
                <a:close/>
              </a:path>
            </a:pathLst>
          </a:custGeom>
          <a:blipFill>
            <a:blip r:embed="rId5">
              <a:alphaModFix amt="70000"/>
              <a:extLst>
                <a:ext uri="{96DAC541-7B7A-43D3-8B79-37D633B846F1}">
                  <asvg:svgBlip xmlns:asvg="http://schemas.microsoft.com/office/drawing/2016/SVG/main" xmlns="" r:embed="rId6"/>
                </a:ext>
              </a:extLst>
            </a:blip>
            <a:stretch>
              <a:fillRect/>
            </a:stretch>
          </a:blipFill>
        </p:spPr>
      </p:sp>
      <p:sp>
        <p:nvSpPr>
          <p:cNvPr id="8" name="TextBox 8"/>
          <p:cNvSpPr txBox="1"/>
          <p:nvPr/>
        </p:nvSpPr>
        <p:spPr>
          <a:xfrm>
            <a:off x="1574843" y="1013927"/>
            <a:ext cx="2922953" cy="368300"/>
          </a:xfrm>
          <a:prstGeom prst="rect">
            <a:avLst/>
          </a:prstGeom>
        </p:spPr>
        <p:txBody>
          <a:bodyPr lIns="0" tIns="0" rIns="0" bIns="0" rtlCol="0" anchor="t">
            <a:spAutoFit/>
          </a:bodyPr>
          <a:lstStyle/>
          <a:p>
            <a:pPr algn="l">
              <a:lnSpc>
                <a:spcPts val="2800"/>
              </a:lnSpc>
            </a:pPr>
            <a:r>
              <a:rPr lang="en-US" sz="2000">
                <a:solidFill>
                  <a:srgbClr val="FFFFFF"/>
                </a:solidFill>
                <a:latin typeface="Poppins"/>
                <a:ea typeface="Poppins"/>
                <a:cs typeface="Poppins"/>
                <a:sym typeface="Poppins"/>
              </a:rPr>
              <a:t>woki toki</a:t>
            </a:r>
          </a:p>
        </p:txBody>
      </p:sp>
      <p:sp>
        <p:nvSpPr>
          <p:cNvPr id="9" name="TextBox 9"/>
          <p:cNvSpPr txBox="1"/>
          <p:nvPr/>
        </p:nvSpPr>
        <p:spPr>
          <a:xfrm>
            <a:off x="5712279" y="1990908"/>
            <a:ext cx="6863443" cy="1409700"/>
          </a:xfrm>
          <a:prstGeom prst="rect">
            <a:avLst/>
          </a:prstGeom>
        </p:spPr>
        <p:txBody>
          <a:bodyPr lIns="0" tIns="0" rIns="0" bIns="0" rtlCol="0" anchor="t">
            <a:spAutoFit/>
          </a:bodyPr>
          <a:lstStyle/>
          <a:p>
            <a:pPr marL="0" lvl="0" indent="0" algn="ctr">
              <a:lnSpc>
                <a:spcPts val="10799"/>
              </a:lnSpc>
            </a:pPr>
            <a:r>
              <a:rPr lang="en-US" sz="9999" spc="-439">
                <a:solidFill>
                  <a:srgbClr val="FFFFFF"/>
                </a:solidFill>
                <a:latin typeface="Norwester"/>
                <a:ea typeface="Norwester"/>
                <a:cs typeface="Norwester"/>
                <a:sym typeface="Norwester"/>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744</Words>
  <Application>Microsoft Office PowerPoint</Application>
  <PresentationFormat>Custom</PresentationFormat>
  <Paragraphs>47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Norwester</vt: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chat - End to End Encryption</dc:title>
  <cp:lastModifiedBy>Omar</cp:lastModifiedBy>
  <cp:revision>2</cp:revision>
  <dcterms:created xsi:type="dcterms:W3CDTF">2006-08-16T00:00:00Z</dcterms:created>
  <dcterms:modified xsi:type="dcterms:W3CDTF">2026-05-13T01:31:32Z</dcterms:modified>
  <dc:identifier>DAHJgCm9d1I</dc:identifier>
</cp:coreProperties>
</file>